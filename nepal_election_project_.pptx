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4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75335"/>
            <a:ext cx="7772400" cy="2259965"/>
          </a:xfrm>
        </p:spPr>
        <p:txBody>
          <a:bodyPr/>
          <a:lstStyle/>
          <a:p>
            <a:r>
              <a:rPr u="sng"/>
              <a:t>Nepal Election Sentiment Analysis</a:t>
            </a:r>
            <a:endParaRPr u="sng"/>
          </a:p>
          <a:p>
            <a:r>
              <a:rPr u="sng"/>
              <a:t>&amp; Result Visualization</a:t>
            </a:r>
            <a:endParaRPr u="sn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</a:rPr>
              <a:t>Machine Learning / Data Science Internship Project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Pramikshya Pokharel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Data Collection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Collected election‑related comments from online public discussions</a:t>
            </a:r>
          </a:p>
          <a:p>
            <a:r>
              <a:t>Sources: Nepali news portals, YouTube news comments, social media discussions</a:t>
            </a:r>
          </a:p>
          <a:p>
            <a:r>
              <a:t>Total dataset size: 1000+ text samples</a:t>
            </a:r>
          </a:p>
          <a:p>
            <a:r>
              <a:t>Languages included: Nepali and English</a:t>
            </a:r>
          </a:p>
          <a:p>
            <a:r>
              <a:t>Data stored in CSV format for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Sentiment Analysis Model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preprocessing: removed URLs, symbols, emojis and normalized text</a:t>
            </a:r>
          </a:p>
          <a:p>
            <a:r>
              <a:t>Feature extraction using TF‑IDF vectorization</a:t>
            </a:r>
          </a:p>
          <a:p>
            <a:r>
              <a:t>Machine Learning algorithm: Logistic Regression</a:t>
            </a:r>
            <a:r>
              <a:rPr lang="en-US"/>
              <a:t>, Navies Bays &amp; SVM</a:t>
            </a:r>
          </a:p>
          <a:p>
            <a:r>
              <a:t>Train/Test split used for model training</a:t>
            </a:r>
          </a:p>
          <a:p>
            <a:r>
              <a:t>Model evaluation: Accuracy, Confusion Matrix, Classification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335" u="sng"/>
              <a:t>Senti</a:t>
            </a:r>
            <a:r>
              <a:rPr sz="3335" u="sng">
                <a:sym typeface="+mn-ea"/>
              </a:rPr>
              <a:t>ment </a:t>
            </a:r>
            <a:r>
              <a:rPr lang="en-US" sz="3335" u="sng">
                <a:sym typeface="+mn-ea"/>
              </a:rPr>
              <a:t>(</a:t>
            </a:r>
            <a:r>
              <a:rPr sz="3335" u="sng">
                <a:sym typeface="+mn-ea"/>
              </a:rPr>
              <a:t>Positive, Negative, Neutral)</a:t>
            </a:r>
            <a:r>
              <a:rPr sz="3335" u="sng"/>
              <a:t>Visualization</a:t>
            </a:r>
            <a:endParaRPr sz="3335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Distribution of sentiments </a:t>
            </a:r>
            <a:r>
              <a:rPr lang="en-US" sz="2400"/>
              <a:t>using bar-chart</a:t>
            </a:r>
            <a:r>
              <a:rPr sz="2400"/>
              <a:t>(Positive, Negative, Neutral)</a:t>
            </a:r>
            <a:endParaRPr sz="2400"/>
          </a:p>
          <a:p/>
          <a:p>
            <a:pPr marL="0" indent="0">
              <a:buNone/>
            </a:pPr>
          </a:p>
          <a:p/>
          <a:p/>
          <a:p/>
          <a:p/>
          <a:p/>
          <a:p/>
          <a:p/>
          <a:p/>
          <a:p>
            <a:pPr marL="0" indent="0">
              <a:buNone/>
            </a:pPr>
          </a:p>
          <a:p/>
          <a:p/>
          <a:p/>
          <a:p/>
          <a:p/>
        </p:txBody>
      </p:sp>
      <p:pic>
        <p:nvPicPr>
          <p:cNvPr id="5" name="Content Placeholder 3" descr="WhatsApp Image 2026-03-11 at 8.39.49 PM"/>
          <p:cNvPicPr>
            <a:picLocks noChangeAspect="1"/>
          </p:cNvPicPr>
          <p:nvPr/>
        </p:nvPicPr>
        <p:blipFill>
          <a:blip r:embed="rId1"/>
          <a:srcRect l="4870" t="16844" r="7222" b="5171"/>
          <a:stretch>
            <a:fillRect/>
          </a:stretch>
        </p:blipFill>
        <p:spPr>
          <a:xfrm>
            <a:off x="1717675" y="2576195"/>
            <a:ext cx="5896610" cy="3912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000" u="sng"/>
              <a:t>Positive vs Negative Comments Comparison</a:t>
            </a:r>
            <a:endParaRPr lang="en-US" altLang="en-US" sz="30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91125"/>
          </a:xfrm>
        </p:spPr>
        <p:txBody>
          <a:bodyPr>
            <a:normAutofit lnSpcReduction="20000"/>
          </a:bodyPr>
          <a:p>
            <a:r>
              <a:rPr sz="2400">
                <a:sym typeface="+mn-ea"/>
              </a:rPr>
              <a:t>Bar chart comparison of sentiment categories</a:t>
            </a:r>
            <a:r>
              <a:rPr lang="en-US" sz="2400">
                <a:sym typeface="+mn-ea"/>
              </a:rPr>
              <a:t>(Positive &amp; Negative)</a:t>
            </a:r>
            <a:endParaRPr lang="en-US" sz="2400">
              <a:sym typeface="+mn-ea"/>
            </a:endParaRPr>
          </a:p>
          <a:p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endParaRPr>
              <a:sym typeface="+mn-ea"/>
            </a:endParaRPr>
          </a:p>
          <a:p>
            <a:endParaRPr>
              <a:sym typeface="+mn-ea"/>
            </a:endParaRPr>
          </a:p>
          <a:p>
            <a:endParaRPr>
              <a:sym typeface="+mn-ea"/>
            </a:endParaRPr>
          </a:p>
          <a:p>
            <a:endParaRPr>
              <a:sym typeface="+mn-ea"/>
            </a:endParaRPr>
          </a:p>
          <a:p>
            <a:endParaRPr lang="en-US"/>
          </a:p>
          <a:p>
            <a:endParaRPr lang="en-US" sz="1800"/>
          </a:p>
          <a:p>
            <a:r>
              <a:rPr lang="en-US" sz="1800"/>
              <a:t>It helps to show what is the Positive &amp; negative Comments status about election.</a:t>
            </a:r>
            <a:endParaRPr lang="en-US" sz="1800"/>
          </a:p>
        </p:txBody>
      </p:sp>
      <p:pic>
        <p:nvPicPr>
          <p:cNvPr id="4" name="Content Placeholder 3" descr="Image Positive Vs. Negative"/>
          <p:cNvPicPr>
            <a:picLocks noChangeAspect="1"/>
          </p:cNvPicPr>
          <p:nvPr/>
        </p:nvPicPr>
        <p:blipFill>
          <a:blip r:embed="rId1"/>
          <a:srcRect t="7660" r="8740" b="13805"/>
          <a:stretch>
            <a:fillRect/>
          </a:stretch>
        </p:blipFill>
        <p:spPr>
          <a:xfrm>
            <a:off x="998220" y="2225675"/>
            <a:ext cx="6337935" cy="3532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35"/>
            <a:ext cx="8229600" cy="1418590"/>
          </a:xfrm>
        </p:spPr>
        <p:txBody>
          <a:bodyPr>
            <a:normAutofit fontScale="90000"/>
          </a:bodyPr>
          <a:p>
            <a:br>
              <a:rPr lang="en-US" altLang="en-US"/>
            </a:br>
            <a:br>
              <a:rPr lang="en-US" altLang="en-US"/>
            </a:br>
            <a:r>
              <a:rPr lang="en-US" altLang="en-US" u="sng"/>
              <a:t>Frequently used words or keywords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891540" y="3663315"/>
            <a:ext cx="8252460" cy="32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ym typeface="+mn-ea"/>
            </a:endParaRPr>
          </a:p>
        </p:txBody>
      </p:sp>
      <p:sp>
        <p:nvSpPr>
          <p:cNvPr id="7" name="Content Placeholder 6"/>
          <p:cNvSpPr/>
          <p:nvPr>
            <p:ph idx="1"/>
          </p:nvPr>
        </p:nvSpPr>
        <p:spPr>
          <a:xfrm>
            <a:off x="457200" y="1118235"/>
            <a:ext cx="8229600" cy="5008245"/>
          </a:xfrm>
        </p:spPr>
        <p:txBody>
          <a:bodyPr/>
          <a:p>
            <a:pPr marL="342900" indent="-34290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Word</a:t>
            </a:r>
            <a:r>
              <a:rPr lang="en-US">
                <a:sym typeface="+mn-ea"/>
              </a:rPr>
              <a:t>i</a:t>
            </a:r>
            <a:r>
              <a:rPr>
                <a:sym typeface="+mn-ea"/>
              </a:rPr>
              <a:t>Cloud visualization for frequently used keywords</a:t>
            </a:r>
            <a:r>
              <a:rPr lang="en-US">
                <a:sym typeface="+mn-ea"/>
              </a:rPr>
              <a:t>. </a:t>
            </a:r>
            <a:endParaRPr lang="en-US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It helps to understand , which keywords in frequently appears in the election datasets.</a:t>
            </a:r>
            <a:endParaRPr lang="en-US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 </a:t>
            </a:r>
            <a:endParaRPr lang="en-US"/>
          </a:p>
        </p:txBody>
      </p:sp>
      <p:pic>
        <p:nvPicPr>
          <p:cNvPr id="8" name="Content Placeholder 3" descr="Image-Word_count"/>
          <p:cNvPicPr>
            <a:picLocks noChangeAspect="1"/>
          </p:cNvPicPr>
          <p:nvPr/>
        </p:nvPicPr>
        <p:blipFill>
          <a:blip r:embed="rId1"/>
          <a:srcRect t="26108" b="20146"/>
          <a:stretch>
            <a:fillRect/>
          </a:stretch>
        </p:blipFill>
        <p:spPr>
          <a:xfrm>
            <a:off x="862965" y="3249295"/>
            <a:ext cx="7287895" cy="3469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Nepal Election Map Visualization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Used Nepal GeoJSON map data for geographic visualization</a:t>
            </a:r>
          </a:p>
          <a:p/>
          <a:p/>
          <a:p/>
          <a:p/>
        </p:txBody>
      </p:sp>
      <p:pic>
        <p:nvPicPr>
          <p:cNvPr id="6" name="Content Placeholder 5" descr="Image_Nepal_Map"/>
          <p:cNvPicPr>
            <a:picLocks noChangeAspect="1"/>
          </p:cNvPicPr>
          <p:nvPr/>
        </p:nvPicPr>
        <p:blipFill>
          <a:blip r:embed="rId1"/>
          <a:srcRect t="28086" b="17368"/>
          <a:stretch>
            <a:fillRect/>
          </a:stretch>
        </p:blipFill>
        <p:spPr>
          <a:xfrm>
            <a:off x="927100" y="2664460"/>
            <a:ext cx="7514590" cy="385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500" u="sng"/>
              <a:t>Nepal election map Conclusion</a:t>
            </a:r>
            <a:endParaRPr lang="en-US" altLang="en-US" sz="3500" u="sng"/>
          </a:p>
        </p:txBody>
      </p:sp>
      <p:sp>
        <p:nvSpPr>
          <p:cNvPr id="8" name="Content Placeholder 7"/>
          <p:cNvSpPr/>
          <p:nvPr>
            <p:ph idx="1"/>
          </p:nvPr>
        </p:nvSpPr>
        <p:spPr>
          <a:xfrm>
            <a:off x="457200" y="4311015"/>
            <a:ext cx="5447030" cy="1815465"/>
          </a:xfrm>
        </p:spPr>
        <p:txBody>
          <a:bodyPr/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45160" y="1543050"/>
            <a:ext cx="7113905" cy="4803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3000">
                <a:sym typeface="+mn-ea"/>
              </a:rPr>
              <a:t>Election results displayed by province</a:t>
            </a:r>
            <a:r>
              <a:rPr lang="en-US" sz="3000">
                <a:sym typeface="+mn-ea"/>
              </a:rPr>
              <a:t>.</a:t>
            </a:r>
            <a:endParaRPr sz="3000">
              <a:sym typeface="+mn-ea"/>
            </a:endParaRPr>
          </a:p>
          <a:p>
            <a:endParaRPr sz="3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>
                <a:sym typeface="+mn-ea"/>
              </a:rPr>
              <a:t>Provience</a:t>
            </a:r>
            <a:r>
              <a:rPr sz="3000">
                <a:sym typeface="+mn-ea"/>
              </a:rPr>
              <a:t> </a:t>
            </a:r>
            <a:r>
              <a:rPr lang="en-US" sz="3000">
                <a:sym typeface="+mn-ea"/>
              </a:rPr>
              <a:t>shows</a:t>
            </a:r>
            <a:r>
              <a:rPr sz="3000">
                <a:sym typeface="+mn-ea"/>
              </a:rPr>
              <a:t> according to winning political party</a:t>
            </a:r>
            <a:r>
              <a:rPr lang="en-US" sz="3000">
                <a:sym typeface="+mn-ea"/>
              </a:rPr>
              <a:t> and rest status too.</a:t>
            </a:r>
            <a:endParaRPr sz="3000">
              <a:sym typeface="+mn-ea"/>
            </a:endParaRPr>
          </a:p>
          <a:p>
            <a:endParaRPr lang="en-US" sz="3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3000">
                <a:sym typeface="+mn-ea"/>
              </a:rPr>
              <a:t>Interactive visualization created using Plotly / GeoPandas</a:t>
            </a:r>
            <a:endParaRPr sz="3000">
              <a:sym typeface="+mn-ea"/>
            </a:endParaRPr>
          </a:p>
          <a:p>
            <a:endParaRPr sz="3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3000">
                <a:sym typeface="+mn-ea"/>
              </a:rPr>
              <a:t>Provides geographic insight into election outcomes</a:t>
            </a:r>
            <a:endParaRPr lang="en-US" sz="2500">
              <a:sym typeface="+mn-ea"/>
            </a:endParaRPr>
          </a:p>
          <a:p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WPS Presentation</Application>
  <PresentationFormat>On-screen Show (4:3)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&amp; Result Visualization</vt:lpstr>
      <vt:lpstr>Data Collection</vt:lpstr>
      <vt:lpstr>Sentiment Analysis Model</vt:lpstr>
      <vt:lpstr>Sentiment Visualization</vt:lpstr>
      <vt:lpstr>PowerPoint 演示文稿</vt:lpstr>
      <vt:lpstr>PowerPoint 演示文稿</vt:lpstr>
      <vt:lpstr>Nepal Election Map Visualization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ACER</cp:lastModifiedBy>
  <cp:revision>2</cp:revision>
  <dcterms:created xsi:type="dcterms:W3CDTF">2013-01-27T09:14:00Z</dcterms:created>
  <dcterms:modified xsi:type="dcterms:W3CDTF">2026-03-11T16:07:36Z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C0B71C78B78744638891A093FA7B8962_13</vt:lpwstr>
  </property>
  <property fmtid="{D5CDD505-2E9C-101B-9397-08002B2CF9AE}" pid="3" name="KSOProductBuildVer">
    <vt:lpwstr>1033-12.2.0.23196</vt:lpwstr>
  </property>
</Properties>
</file>